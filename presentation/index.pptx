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Seeing History Unseen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Evaluating Vision-Language Models for WCAG-Compliant Alt-Text in Digital Heritage Collections</a:t>
            </a:r>
            <a:br/>
            <a:br/>
            <a:r>
              <a:rPr/>
              <a:t>Moritz Mähr</a:t>
            </a:r>
            <a:br/>
            <a:r>
              <a:rPr/>
              <a:t>Moritz Twente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Seeing History Unseen</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Draft presentation</a:t>
            </a:r>
            <a:r>
              <a:rPr sz="2000"/>
              <a:t> — work in progress, not for distribution or citation</a:t>
            </a:r>
          </a:p>
          <a:p>
            <a:pPr lvl="0"/>
            <a:r>
              <a:rPr/>
              <a:t>Evaluating vision–language models (VLMs) for alt-text in digital heritage collections</a:t>
            </a:r>
          </a:p>
          <a:p>
            <a:pPr lvl="0"/>
            <a:r>
              <a:rPr/>
              <a:t>Case study: Stadt.Geschichte.Basel Open Research Data platform</a:t>
            </a:r>
          </a:p>
          <a:p>
            <a:pPr lvl="0"/>
            <a:r>
              <a:rPr/>
              <a:t>Focus: WCAG-compliant, historically informed alt-text for heterogeneous images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 Accessibility Gap</a:t>
            </a:r>
          </a:p>
        </p:txBody>
      </p:sp>
      <p:sp>
        <p:nvSpPr>
          <p:cNvPr id="3" name="Content Placeholder 2"/>
          <p:cNvSpPr>
            <a:spLocks noGrp="1"/>
          </p:cNvSpPr>
          <p:nvPr>
            <p:ph idx="1"/>
          </p:nvPr>
        </p:nvSpPr>
        <p:spPr/>
        <p:txBody>
          <a:bodyPr/>
          <a:lstStyle/>
          <a:p>
            <a:pPr lvl="0"/>
            <a:r>
              <a:rPr/>
              <a:t>Digitized archives still exclude blind and low-vision users</a:t>
            </a:r>
          </a:p>
          <a:p>
            <a:pPr lvl="0"/>
            <a:r>
              <a:rPr/>
              <a:t>Many images lack meaningful alt-text or rely on minimal, generic captions</a:t>
            </a:r>
          </a:p>
          <a:p>
            <a:pPr lvl="0"/>
            <a:r>
              <a:rPr/>
              <a:t>Alt-text is not just a technical requirement but part of historical justice</a:t>
            </a:r>
          </a:p>
          <a:p>
            <a:pPr lvl="0"/>
            <a:r>
              <a:rPr/>
              <a:t>Rich descriptions also benefit other groups (e.g., neurodivergent readers)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Alt-Text in Digital Heritage</a:t>
            </a:r>
          </a:p>
        </p:txBody>
      </p:sp>
      <p:sp>
        <p:nvSpPr>
          <p:cNvPr id="3" name="Content Placeholder 2"/>
          <p:cNvSpPr>
            <a:spLocks noGrp="1"/>
          </p:cNvSpPr>
          <p:nvPr>
            <p:ph idx="1"/>
          </p:nvPr>
        </p:nvSpPr>
        <p:spPr/>
        <p:txBody>
          <a:bodyPr/>
          <a:lstStyle/>
          <a:p>
            <a:pPr lvl="0"/>
            <a:r>
              <a:rPr/>
              <a:t>Alt-text translates visual evidence into language</a:t>
            </a:r>
          </a:p>
          <a:p>
            <a:pPr lvl="0"/>
            <a:r>
              <a:rPr/>
              <a:t>Requires:</a:t>
            </a:r>
          </a:p>
          <a:p>
            <a:pPr lvl="1"/>
            <a:r>
              <a:rPr/>
              <a:t>Domain knowledge (history, archives, local context)</a:t>
            </a:r>
          </a:p>
          <a:p>
            <a:pPr lvl="1"/>
            <a:r>
              <a:rPr/>
              <a:t>Accessibility expertise (WCAG, screenreader use)</a:t>
            </a:r>
          </a:p>
          <a:p>
            <a:pPr lvl="1"/>
            <a:r>
              <a:rPr/>
              <a:t>Editorial judgement (what is salient, what is harmful)</a:t>
            </a:r>
          </a:p>
          <a:p>
            <a:pPr lvl="0"/>
            <a:r>
              <a:rPr/>
              <a:t>Production is labor-intensive; often postponed or dropped entirely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Opportunity and Risks of VLMs</a:t>
            </a:r>
          </a:p>
        </p:txBody>
      </p:sp>
      <p:sp>
        <p:nvSpPr>
          <p:cNvPr id="3" name="Content Placeholder 2"/>
          <p:cNvSpPr>
            <a:spLocks noGrp="1"/>
          </p:cNvSpPr>
          <p:nvPr>
            <p:ph idx="1"/>
          </p:nvPr>
        </p:nvSpPr>
        <p:spPr/>
        <p:txBody>
          <a:bodyPr/>
          <a:lstStyle/>
          <a:p>
            <a:pPr lvl="0"/>
            <a:r>
              <a:rPr/>
              <a:t>Multimodal models (e.g., GPT-4o mini, Gemini, Llama, Qwen) can caption images at scale</a:t>
            </a:r>
          </a:p>
          <a:p>
            <a:pPr lvl="0"/>
            <a:r>
              <a:rPr/>
              <a:t>Promise:</a:t>
            </a:r>
          </a:p>
          <a:p>
            <a:pPr lvl="1"/>
            <a:r>
              <a:rPr/>
              <a:t>High coverage, fast throughput, low marginal cost</a:t>
            </a:r>
          </a:p>
          <a:p>
            <a:pPr lvl="1"/>
            <a:r>
              <a:rPr/>
              <a:t>Potential to “fill the gap” for large collections</a:t>
            </a:r>
          </a:p>
          <a:p>
            <a:pPr lvl="0"/>
            <a:r>
              <a:rPr/>
              <a:t>Risk:</a:t>
            </a:r>
          </a:p>
          <a:p>
            <a:pPr lvl="1"/>
            <a:r>
              <a:rPr/>
              <a:t>Hallucinations, misrecognitions, and subtle biases</a:t>
            </a:r>
          </a:p>
          <a:p>
            <a:pPr lvl="1"/>
            <a:r>
              <a:rPr/>
              <a:t>Uncritical reproduction of harmful terminology from sources or training data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 Questions</a:t>
            </a:r>
          </a:p>
        </p:txBody>
      </p:sp>
      <p:sp>
        <p:nvSpPr>
          <p:cNvPr id="3" name="Content Placeholder 2"/>
          <p:cNvSpPr>
            <a:spLocks noGrp="1"/>
          </p:cNvSpPr>
          <p:nvPr>
            <p:ph idx="1"/>
          </p:nvPr>
        </p:nvSpPr>
        <p:spPr/>
        <p:txBody>
          <a:bodyPr/>
          <a:lstStyle/>
          <a:p>
            <a:pPr lvl="0"/>
            <a:r>
              <a:rPr b="1"/>
              <a:t>RQ1 — Feasibility</a:t>
            </a:r>
          </a:p>
          <a:p>
            <a:pPr lvl="1"/>
            <a:r>
              <a:rPr/>
              <a:t>What coverage, throughput, and unit cost can current VLMs achieve for WCAG-aligned alt-text on a heterogeneous heritage corpus?</a:t>
            </a:r>
          </a:p>
          <a:p>
            <a:pPr lvl="0"/>
            <a:r>
              <a:rPr b="1"/>
              <a:t>RQ2 — Relative quality</a:t>
            </a:r>
          </a:p>
          <a:p>
            <a:pPr lvl="1"/>
            <a:r>
              <a:rPr/>
              <a:t>How do humanities experts rank model outputs?</a:t>
            </a:r>
          </a:p>
          <a:p>
            <a:pPr lvl="1"/>
            <a:r>
              <a:rPr/>
              <a:t>Which error patterns recur in “best” alt-texts?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Corpus and Dataset</a:t>
            </a:r>
          </a:p>
        </p:txBody>
      </p:sp>
      <p:sp>
        <p:nvSpPr>
          <p:cNvPr id="3" name="Content Placeholder 2"/>
          <p:cNvSpPr>
            <a:spLocks noGrp="1"/>
          </p:cNvSpPr>
          <p:nvPr>
            <p:ph idx="1"/>
          </p:nvPr>
        </p:nvSpPr>
        <p:spPr/>
        <p:txBody>
          <a:bodyPr/>
          <a:lstStyle/>
          <a:p>
            <a:pPr lvl="0"/>
            <a:r>
              <a:rPr/>
              <a:t>Source: Stadt.Geschichte.Basel Open Research Data platform</a:t>
            </a:r>
          </a:p>
          <a:p>
            <a:pPr lvl="0"/>
            <a:r>
              <a:rPr/>
              <a:t>≈1700 media objects (as of Oct 2025), diverse in:</a:t>
            </a:r>
          </a:p>
          <a:p>
            <a:pPr lvl="1"/>
            <a:r>
              <a:rPr/>
              <a:t>Media type: photographs, maps, drawings, objects, diagrams, ephemera</a:t>
            </a:r>
          </a:p>
          <a:p>
            <a:pPr lvl="1"/>
            <a:r>
              <a:rPr/>
              <a:t>Time period: from prehistory to contemporary Basel</a:t>
            </a:r>
          </a:p>
          <a:p>
            <a:pPr lvl="1"/>
            <a:r>
              <a:rPr/>
              <a:t>Complexity: multi-part figures, legends, text-heavy items</a:t>
            </a:r>
          </a:p>
          <a:p>
            <a:pPr lvl="0"/>
            <a:r>
              <a:rPr/>
              <a:t>Study datasets:</a:t>
            </a:r>
          </a:p>
          <a:p>
            <a:pPr lvl="1"/>
            <a:r>
              <a:rPr/>
              <a:t>100-item benchmark set (released with the paper)</a:t>
            </a:r>
          </a:p>
          <a:p>
            <a:pPr lvl="1"/>
            <a:r>
              <a:rPr/>
              <a:t>20-item subset for detailed expert evaluation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Models Under Study</a:t>
            </a:r>
          </a:p>
        </p:txBody>
      </p:sp>
      <p:sp>
        <p:nvSpPr>
          <p:cNvPr id="3" name="Content Placeholder 2"/>
          <p:cNvSpPr>
            <a:spLocks noGrp="1"/>
          </p:cNvSpPr>
          <p:nvPr>
            <p:ph idx="1"/>
          </p:nvPr>
        </p:nvSpPr>
        <p:spPr/>
        <p:txBody>
          <a:bodyPr/>
          <a:lstStyle/>
          <a:p>
            <a:pPr lvl="0"/>
            <a:r>
              <a:rPr/>
              <a:t>Four vision–language models via OpenRouter:</a:t>
            </a:r>
          </a:p>
          <a:p>
            <a:pPr lvl="1"/>
            <a:r>
              <a:rPr b="1"/>
              <a:t>Google Gemini 2.5 Flash Lite</a:t>
            </a:r>
          </a:p>
          <a:p>
            <a:pPr lvl="1"/>
            <a:r>
              <a:rPr b="1"/>
              <a:t>Meta Llama 4 Maverick</a:t>
            </a:r>
          </a:p>
          <a:p>
            <a:pPr lvl="1"/>
            <a:r>
              <a:rPr b="1"/>
              <a:t>OpenAI GPT-4o mini</a:t>
            </a:r>
          </a:p>
          <a:p>
            <a:pPr lvl="1"/>
            <a:r>
              <a:rPr b="1"/>
              <a:t>Qwen 3 VL 8B Instruct</a:t>
            </a:r>
          </a:p>
          <a:p>
            <a:pPr lvl="0"/>
            <a:r>
              <a:rPr/>
              <a:t>Selection criteria:</a:t>
            </a:r>
          </a:p>
          <a:p>
            <a:pPr lvl="1"/>
            <a:r>
              <a:rPr/>
              <a:t>Mix of proprietary and open-weight models</a:t>
            </a:r>
          </a:p>
          <a:p>
            <a:pPr lvl="1"/>
            <a:r>
              <a:rPr/>
              <a:t>Similar cost range and context window</a:t>
            </a:r>
          </a:p>
          <a:p>
            <a:pPr lvl="1"/>
            <a:r>
              <a:rPr/>
              <a:t>Multimodal and multilingual (incl. German)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Prompt and Pipeline Design</a:t>
            </a:r>
          </a:p>
        </p:txBody>
      </p:sp>
      <p:sp>
        <p:nvSpPr>
          <p:cNvPr id="3" name="Content Placeholder 2"/>
          <p:cNvSpPr>
            <a:spLocks noGrp="1"/>
          </p:cNvSpPr>
          <p:nvPr>
            <p:ph idx="1"/>
          </p:nvPr>
        </p:nvSpPr>
        <p:spPr/>
        <p:txBody>
          <a:bodyPr/>
          <a:lstStyle/>
          <a:p>
            <a:pPr lvl="0"/>
            <a:r>
              <a:rPr/>
              <a:t>Fixed, WCAG-aligned </a:t>
            </a:r>
            <a:r>
              <a:rPr b="1"/>
              <a:t>system prompt</a:t>
            </a:r>
            <a:r>
              <a:rPr/>
              <a:t>:</a:t>
            </a:r>
          </a:p>
          <a:p>
            <a:pPr lvl="1"/>
            <a:r>
              <a:rPr/>
              <a:t>Short, neutral, factual descriptions</a:t>
            </a:r>
          </a:p>
          <a:p>
            <a:pPr lvl="1"/>
            <a:r>
              <a:rPr/>
              <a:t>No “image of …”, no </a:t>
            </a:r>
            <a:r>
              <a:rPr>
                <a:latin typeface="Courier"/>
              </a:rPr>
              <a:t>alt=</a:t>
            </a:r>
            <a:r>
              <a:rPr/>
              <a:t> wrappers, no emojis</a:t>
            </a:r>
          </a:p>
          <a:p>
            <a:pPr lvl="1"/>
            <a:r>
              <a:rPr/>
              <a:t>Length targets (90–180 chars; up to 400 for complex charts)</a:t>
            </a:r>
          </a:p>
          <a:p>
            <a:pPr lvl="1"/>
            <a:r>
              <a:rPr/>
              <a:t>Rules for portraits, objects, documents, maps, event photos</a:t>
            </a:r>
          </a:p>
          <a:p>
            <a:pPr lvl="0"/>
            <a:r>
              <a:rPr b="1"/>
              <a:t>User prompt</a:t>
            </a:r>
            <a:r>
              <a:rPr/>
              <a:t>:</a:t>
            </a:r>
          </a:p>
          <a:p>
            <a:pPr lvl="1"/>
            <a:r>
              <a:rPr/>
              <a:t>Concise, structured metadata (title, description, date, era, creator, publisher, source)</a:t>
            </a:r>
          </a:p>
          <a:p>
            <a:pPr lvl="1"/>
            <a:r>
              <a:rPr/>
              <a:t>Image URL at the end</a:t>
            </a:r>
          </a:p>
          <a:p>
            <a:pPr lvl="0"/>
            <a:r>
              <a:rPr/>
              <a:t>Pipeline:</a:t>
            </a:r>
          </a:p>
          <a:p>
            <a:pPr lvl="1"/>
            <a:r>
              <a:rPr/>
              <a:t>Standardized JPG (800×800) + JSON metadata → 4 candidate alt-texts per image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Expert Ranking Study</a:t>
            </a:r>
          </a:p>
        </p:txBody>
      </p:sp>
      <p:sp>
        <p:nvSpPr>
          <p:cNvPr id="3" name="Content Placeholder 2"/>
          <p:cNvSpPr>
            <a:spLocks noGrp="1"/>
          </p:cNvSpPr>
          <p:nvPr>
            <p:ph idx="1"/>
          </p:nvPr>
        </p:nvSpPr>
        <p:spPr/>
        <p:txBody>
          <a:bodyPr/>
          <a:lstStyle/>
          <a:p>
            <a:pPr lvl="0"/>
            <a:r>
              <a:rPr/>
              <a:t>Participants: 21 humanities scholars</a:t>
            </a:r>
          </a:p>
          <a:p>
            <a:pPr lvl="0"/>
            <a:r>
              <a:rPr/>
              <a:t>Task:</a:t>
            </a:r>
          </a:p>
          <a:p>
            <a:pPr lvl="1"/>
            <a:r>
              <a:rPr/>
              <a:t>For each of 20 images, rank 4 model outputs from </a:t>
            </a:r>
            <a:r>
              <a:rPr b="1"/>
              <a:t>1 (best) to 4 (worst)</a:t>
            </a:r>
          </a:p>
          <a:p>
            <a:pPr lvl="0"/>
            <a:r>
              <a:rPr/>
              <a:t>Instructions:</a:t>
            </a:r>
          </a:p>
          <a:p>
            <a:pPr lvl="1"/>
            <a:r>
              <a:rPr/>
              <a:t>Focus on WCAG-aligned criteria:</a:t>
            </a:r>
          </a:p>
          <a:p>
            <a:pPr lvl="2"/>
            <a:r>
              <a:rPr/>
              <a:t>Core visual content, no redundancy</a:t>
            </a:r>
          </a:p>
          <a:p>
            <a:pPr lvl="2"/>
            <a:r>
              <a:rPr/>
              <a:t>Salient features and visible text</a:t>
            </a:r>
          </a:p>
          <a:p>
            <a:pPr lvl="2"/>
            <a:r>
              <a:rPr/>
              <a:t>Context only when it aids understanding</a:t>
            </a:r>
          </a:p>
          <a:p>
            <a:pPr lvl="1"/>
            <a:r>
              <a:rPr/>
              <a:t>Factual accuracy and bias not foregrounded but may influence judgement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RQ1 — Feasibility Results</a:t>
            </a:r>
          </a:p>
        </p:txBody>
      </p:sp>
      <p:sp>
        <p:nvSpPr>
          <p:cNvPr id="3" name="Content Placeholder 2"/>
          <p:cNvSpPr>
            <a:spLocks noGrp="1"/>
          </p:cNvSpPr>
          <p:nvPr>
            <p:ph idx="1"/>
          </p:nvPr>
        </p:nvSpPr>
        <p:spPr/>
        <p:txBody>
          <a:bodyPr/>
          <a:lstStyle/>
          <a:p>
            <a:pPr lvl="0"/>
            <a:r>
              <a:rPr b="1"/>
              <a:t>Coverage</a:t>
            </a:r>
          </a:p>
          <a:p>
            <a:pPr lvl="1"/>
            <a:r>
              <a:rPr/>
              <a:t>All four models produced non-empty alt-text for all 20 images → </a:t>
            </a:r>
            <a:r>
              <a:rPr b="1"/>
              <a:t>100% coverage</a:t>
            </a:r>
          </a:p>
          <a:p>
            <a:pPr lvl="0"/>
            <a:r>
              <a:rPr b="1"/>
              <a:t>Latency and throughput</a:t>
            </a:r>
          </a:p>
          <a:p>
            <a:pPr lvl="1"/>
            <a:r>
              <a:rPr/>
              <a:t>≈2–4 seconds per item; ≈0.24–0.43 items/s</a:t>
            </a:r>
          </a:p>
          <a:p>
            <a:pPr lvl="1"/>
            <a:r>
              <a:rPr/>
              <a:t>Qwen 3 VL 8B: fastest; GPT-4o mini: slower but stable</a:t>
            </a:r>
          </a:p>
          <a:p>
            <a:pPr lvl="0"/>
            <a:r>
              <a:rPr b="1"/>
              <a:t>Cost</a:t>
            </a:r>
          </a:p>
          <a:p>
            <a:pPr lvl="1"/>
            <a:r>
              <a:rPr/>
              <a:t>≈1.8×10⁻⁴ to 3.6×10⁻³ USD per description</a:t>
            </a:r>
          </a:p>
          <a:p>
            <a:pPr lvl="1"/>
            <a:r>
              <a:rPr/>
              <a:t>Sub-cent cost even for multiple candidates per image</a:t>
            </a:r>
          </a:p>
          <a:p>
            <a:pPr lvl="0"/>
            <a:r>
              <a:rPr/>
              <a:t>Conclusion: technically and economically feasible at collection scale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RQ2 — Quantitative Ranking Results</a:t>
            </a:r>
          </a:p>
        </p:txBody>
      </p:sp>
      <p:sp>
        <p:nvSpPr>
          <p:cNvPr id="3" name="Content Placeholder 2"/>
          <p:cNvSpPr>
            <a:spLocks noGrp="1"/>
          </p:cNvSpPr>
          <p:nvPr>
            <p:ph idx="1"/>
          </p:nvPr>
        </p:nvSpPr>
        <p:spPr/>
        <p:txBody>
          <a:bodyPr/>
          <a:lstStyle/>
          <a:p>
            <a:pPr lvl="0"/>
            <a:r>
              <a:rPr/>
              <a:t>Rank distributions:</a:t>
            </a:r>
          </a:p>
          <a:p>
            <a:pPr lvl="1"/>
            <a:r>
              <a:rPr/>
              <a:t>GPT-4o mini and Qwen receive more first-place and fewer last-place ranks</a:t>
            </a:r>
          </a:p>
          <a:p>
            <a:pPr lvl="1"/>
            <a:r>
              <a:rPr/>
              <a:t>Gemini and Llama perform slightly worse descriptively</a:t>
            </a:r>
          </a:p>
          <a:p>
            <a:pPr lvl="0"/>
            <a:r>
              <a:rPr/>
              <a:t>Statistical tests:</a:t>
            </a:r>
          </a:p>
          <a:p>
            <a:pPr lvl="1"/>
            <a:r>
              <a:rPr/>
              <a:t>Friedman test: χ²(3, N=20) = 6.02, p = 0.11</a:t>
            </a:r>
          </a:p>
          <a:p>
            <a:pPr lvl="1"/>
            <a:r>
              <a:rPr/>
              <a:t>Kendall’s W ≈ 0.01 → very low agreement across tasks</a:t>
            </a:r>
          </a:p>
          <a:p>
            <a:pPr lvl="1"/>
            <a:r>
              <a:rPr/>
              <a:t>Pairwise Wilcoxon tests (Holm-corrected): no significant differences</a:t>
            </a:r>
          </a:p>
          <a:p>
            <a:pPr lvl="0"/>
            <a:r>
              <a:rPr/>
              <a:t>Takeaway: </a:t>
            </a:r>
            <a:r>
              <a:rPr b="1"/>
              <a:t>no clear “winner”</a:t>
            </a:r>
            <a:r>
              <a:rPr/>
              <a:t>; relative model quality varies by image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Qualitative Error Patterns</a:t>
            </a:r>
          </a:p>
        </p:txBody>
      </p:sp>
      <p:sp>
        <p:nvSpPr>
          <p:cNvPr id="3" name="Content Placeholder 2"/>
          <p:cNvSpPr>
            <a:spLocks noGrp="1"/>
          </p:cNvSpPr>
          <p:nvPr>
            <p:ph idx="1"/>
          </p:nvPr>
        </p:nvSpPr>
        <p:spPr/>
        <p:txBody>
          <a:bodyPr/>
          <a:lstStyle/>
          <a:p>
            <a:pPr lvl="0"/>
            <a:r>
              <a:rPr/>
              <a:t>Close reading of top-ranked alt-texts reveals recurring problems:</a:t>
            </a:r>
          </a:p>
          <a:p>
            <a:pPr lvl="1"/>
            <a:r>
              <a:rPr b="1"/>
              <a:t>Factual misrecognition</a:t>
            </a:r>
          </a:p>
          <a:p>
            <a:pPr lvl="2"/>
            <a:r>
              <a:rPr/>
              <a:t>Example: describing people walking </a:t>
            </a:r>
            <a:r>
              <a:rPr i="1"/>
              <a:t>down</a:t>
            </a:r>
            <a:r>
              <a:rPr/>
              <a:t> a staircase when image shows them walking </a:t>
            </a:r>
            <a:r>
              <a:rPr i="1"/>
              <a:t>up</a:t>
            </a:r>
          </a:p>
          <a:p>
            <a:pPr lvl="1"/>
            <a:r>
              <a:rPr b="1"/>
              <a:t>Reproduction of stereotypes</a:t>
            </a:r>
          </a:p>
          <a:p>
            <a:pPr lvl="2"/>
            <a:r>
              <a:rPr/>
              <a:t>Example: uncritical repetition of phrases like “reicher Jude” from metadata or training data</a:t>
            </a:r>
          </a:p>
          <a:p>
            <a:pPr lvl="1"/>
            <a:r>
              <a:rPr b="1"/>
              <a:t>Selective omission</a:t>
            </a:r>
          </a:p>
          <a:p>
            <a:pPr lvl="2"/>
            <a:r>
              <a:rPr/>
              <a:t>Example: summarising trends for one data series in a chart while ignoring others</a:t>
            </a:r>
          </a:p>
          <a:p>
            <a:pPr lvl="0"/>
            <a:r>
              <a:rPr/>
              <a:t>Even “best” alt-texts can be epistemically misleading or harmful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Operationally Viable, Epistemically Fragile</a:t>
            </a:r>
          </a:p>
        </p:txBody>
      </p:sp>
      <p:sp>
        <p:nvSpPr>
          <p:cNvPr id="3" name="Content Placeholder 2"/>
          <p:cNvSpPr>
            <a:spLocks noGrp="1"/>
          </p:cNvSpPr>
          <p:nvPr>
            <p:ph idx="1"/>
          </p:nvPr>
        </p:nvSpPr>
        <p:spPr/>
        <p:txBody>
          <a:bodyPr/>
          <a:lstStyle/>
          <a:p>
            <a:pPr lvl="0"/>
            <a:r>
              <a:rPr b="1"/>
              <a:t>Operationally viable (RQ1)</a:t>
            </a:r>
          </a:p>
          <a:p>
            <a:pPr lvl="1"/>
            <a:r>
              <a:rPr/>
              <a:t>High coverage, low latency, negligible cost</a:t>
            </a:r>
          </a:p>
          <a:p>
            <a:pPr lvl="1"/>
            <a:r>
              <a:rPr/>
              <a:t>Easy to integrate into existing pipelines</a:t>
            </a:r>
          </a:p>
          <a:p>
            <a:pPr lvl="0"/>
            <a:r>
              <a:rPr b="1"/>
              <a:t>Epistemically fragile (RQ2)</a:t>
            </a:r>
          </a:p>
          <a:p>
            <a:pPr lvl="1"/>
            <a:r>
              <a:rPr/>
              <a:t>Errors are uneven and task-dependent</a:t>
            </a:r>
          </a:p>
          <a:p>
            <a:pPr lvl="1"/>
            <a:r>
              <a:rPr/>
              <a:t>Biases and omissions require domain-sensitive review</a:t>
            </a:r>
          </a:p>
          <a:p>
            <a:pPr lvl="0"/>
            <a:r>
              <a:rPr/>
              <a:t>Tension:</a:t>
            </a:r>
          </a:p>
          <a:p>
            <a:pPr lvl="1"/>
            <a:r>
              <a:rPr/>
              <a:t>VLMs can rapidly “fill missing alt-text”</a:t>
            </a:r>
          </a:p>
          <a:p>
            <a:pPr lvl="1"/>
            <a:r>
              <a:rPr/>
              <a:t>But may distort historical evidence or reproduce injustice if used uncritically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Implications for GLAM Institutions</a:t>
            </a:r>
          </a:p>
        </p:txBody>
      </p:sp>
      <p:sp>
        <p:nvSpPr>
          <p:cNvPr id="3" name="Content Placeholder 2"/>
          <p:cNvSpPr>
            <a:spLocks noGrp="1"/>
          </p:cNvSpPr>
          <p:nvPr>
            <p:ph idx="1"/>
          </p:nvPr>
        </p:nvSpPr>
        <p:spPr/>
        <p:txBody>
          <a:bodyPr/>
          <a:lstStyle/>
          <a:p>
            <a:pPr lvl="0"/>
            <a:r>
              <a:rPr/>
              <a:t>Do </a:t>
            </a:r>
            <a:r>
              <a:rPr b="1"/>
              <a:t>not</a:t>
            </a:r>
            <a:r>
              <a:rPr/>
              <a:t> use VLMs as fully automated captioners</a:t>
            </a:r>
          </a:p>
          <a:p>
            <a:pPr lvl="0"/>
            <a:r>
              <a:rPr/>
              <a:t>Treat alt-text as:</a:t>
            </a:r>
          </a:p>
          <a:p>
            <a:pPr lvl="1"/>
            <a:r>
              <a:rPr/>
              <a:t>An interpretive, historiographical act</a:t>
            </a:r>
          </a:p>
          <a:p>
            <a:pPr lvl="1"/>
            <a:r>
              <a:rPr/>
              <a:t>An ethical responsibility toward diverse audiences</a:t>
            </a:r>
          </a:p>
          <a:p>
            <a:pPr lvl="0"/>
            <a:r>
              <a:rPr/>
              <a:t>Recommended use:</a:t>
            </a:r>
          </a:p>
          <a:p>
            <a:pPr lvl="1"/>
            <a:r>
              <a:rPr/>
              <a:t>VLMs as drafting aids for trained editors</a:t>
            </a:r>
          </a:p>
          <a:p>
            <a:pPr lvl="1"/>
            <a:r>
              <a:rPr/>
              <a:t>Human-in-the-loop workflows with:</a:t>
            </a:r>
          </a:p>
          <a:p>
            <a:pPr lvl="2"/>
            <a:r>
              <a:rPr/>
              <a:t>Editorial guidelines for sensitive content</a:t>
            </a:r>
          </a:p>
          <a:p>
            <a:pPr lvl="2"/>
            <a:r>
              <a:rPr/>
              <a:t>Checks for bias, factual errors, and omissions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Recommendations</a:t>
            </a:r>
          </a:p>
        </p:txBody>
      </p:sp>
      <p:sp>
        <p:nvSpPr>
          <p:cNvPr id="3" name="Content Placeholder 2"/>
          <p:cNvSpPr>
            <a:spLocks noGrp="1"/>
          </p:cNvSpPr>
          <p:nvPr>
            <p:ph idx="1"/>
          </p:nvPr>
        </p:nvSpPr>
        <p:spPr/>
        <p:txBody>
          <a:bodyPr/>
          <a:lstStyle/>
          <a:p>
            <a:pPr lvl="0"/>
            <a:r>
              <a:rPr/>
              <a:t>For collections and digital humanities teams:</a:t>
            </a:r>
          </a:p>
          <a:p>
            <a:pPr lvl="1"/>
            <a:r>
              <a:rPr/>
              <a:t>Start with limited, well-documented pilot runs</a:t>
            </a:r>
          </a:p>
          <a:p>
            <a:pPr lvl="1"/>
            <a:r>
              <a:rPr/>
              <a:t>Prioritise sensitive or high-impact items for manual review</a:t>
            </a:r>
          </a:p>
          <a:p>
            <a:pPr lvl="1"/>
            <a:r>
              <a:rPr/>
              <a:t>Develop internal style guides for alt-text and metadata</a:t>
            </a:r>
          </a:p>
          <a:p>
            <a:pPr lvl="1"/>
            <a:r>
              <a:rPr/>
              <a:t>Log model version, prompts, and provenance for transparency</a:t>
            </a:r>
          </a:p>
          <a:p>
            <a:pPr lvl="0"/>
            <a:r>
              <a:rPr/>
              <a:t>For model and tool builders:</a:t>
            </a:r>
          </a:p>
          <a:p>
            <a:pPr lvl="1"/>
            <a:r>
              <a:rPr/>
              <a:t>Support context-aware prompting (metadata + image)</a:t>
            </a:r>
          </a:p>
          <a:p>
            <a:pPr lvl="1"/>
            <a:r>
              <a:rPr/>
              <a:t>Provide better controls for bias and harmful content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Limitations and Future Work</a:t>
            </a:r>
          </a:p>
        </p:txBody>
      </p:sp>
      <p:sp>
        <p:nvSpPr>
          <p:cNvPr id="3" name="Content Placeholder 2"/>
          <p:cNvSpPr>
            <a:spLocks noGrp="1"/>
          </p:cNvSpPr>
          <p:nvPr>
            <p:ph idx="1"/>
          </p:nvPr>
        </p:nvSpPr>
        <p:spPr/>
        <p:txBody>
          <a:bodyPr/>
          <a:lstStyle/>
          <a:p>
            <a:pPr lvl="0"/>
            <a:r>
              <a:rPr/>
              <a:t>Scope:</a:t>
            </a:r>
          </a:p>
          <a:p>
            <a:pPr lvl="1"/>
            <a:r>
              <a:rPr/>
              <a:t>Single institutional corpus; 100-item dataset, 20-item survey subset</a:t>
            </a:r>
          </a:p>
          <a:p>
            <a:pPr lvl="1"/>
            <a:r>
              <a:rPr/>
              <a:t>Four models at one point in time (Oct 2025)</a:t>
            </a:r>
          </a:p>
          <a:p>
            <a:pPr lvl="0"/>
            <a:r>
              <a:rPr/>
              <a:t>Future directions:</a:t>
            </a:r>
          </a:p>
          <a:p>
            <a:pPr lvl="1"/>
            <a:r>
              <a:rPr/>
              <a:t>Larger and more diverse participant pools, including blind and low-vision users</a:t>
            </a:r>
          </a:p>
          <a:p>
            <a:pPr lvl="1"/>
            <a:r>
              <a:rPr/>
              <a:t>Comparative studies of different prompt and review strategies</a:t>
            </a:r>
          </a:p>
          <a:p>
            <a:pPr lvl="1"/>
            <a:r>
              <a:rPr/>
              <a:t>Integration with authoring tools and cataloguing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VLMs can make large-scale alt-text generation </a:t>
            </a:r>
            <a:r>
              <a:rPr b="1"/>
              <a:t>operationally feasible</a:t>
            </a:r>
          </a:p>
          <a:p>
            <a:pPr lvl="0"/>
            <a:r>
              <a:rPr/>
              <a:t>However, they remain </a:t>
            </a:r>
            <a:r>
              <a:rPr b="1"/>
              <a:t>epistemically fragile</a:t>
            </a:r>
            <a:r>
              <a:rPr/>
              <a:t>, especially for historical and sensitive materials</a:t>
            </a:r>
          </a:p>
          <a:p>
            <a:pPr lvl="0"/>
            <a:r>
              <a:rPr/>
              <a:t>Effective adoption requires:</a:t>
            </a:r>
          </a:p>
          <a:p>
            <a:pPr lvl="1"/>
            <a:r>
              <a:rPr/>
              <a:t>Clear editorial policies and sensitivity guidelines</a:t>
            </a:r>
          </a:p>
          <a:p>
            <a:pPr lvl="1"/>
            <a:r>
              <a:rPr/>
              <a:t>Human-in-the-loop review with domain and accessibility expertise</a:t>
            </a:r>
          </a:p>
          <a:p>
            <a:pPr lvl="1"/>
            <a:r>
              <a:rPr/>
              <a:t>Transparent, reproducible workflows and open data</a:t>
            </a:r>
          </a:p>
          <a:p>
            <a:pPr lvl="0"/>
            <a:r>
              <a:rPr/>
              <a:t>Accessibility with AI is not automatic; it is a design and governance choice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Seeing History Unseen</dc:title>
  <dc:creator>Moritz Mähr; Moritz Twente</dc:creator>
  <cp:keywords>alt-text, vision-language models, accessibility, WCAG 2.2, digital heritage collections, historical accuracy, human-in-the-loop, ethical implications, metadata, disability justice</cp:keywords>
  <dcterms:created xsi:type="dcterms:W3CDTF">2025-11-19T14:34:11Z</dcterms:created>
  <dcterms:modified xsi:type="dcterms:W3CDTF">2025-11-19T14:34:11Z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Digitized heritage collections remain partially inaccessible because images often lack descriptive alternative text (alt-text). We evaluate whether contemporary Vision-Language Models (VLMs) can assist in producing WCAG-compliant alt-text for heterogeneous historical materials. Using a 100-item dataset curated from the Stadt.Geschichte.Basel Open Research Data Platform—covering photographs, maps, drawings, objects, diagrams, and print ephemera across multiple eras—we generate candidate descriptions with four VLMs (Google Gemini 2.5 Flash Lite, Meta Llama 4 Maverick, OpenAI GPT-4o mini, Qwen 3 VL 8B Instruct). Our pipeline fixes WCAG and output constraints in the system prompt and injects concise, collection-specific metadata at the user turn to mitigate “lost-in-the-middle” effects. Feasibility benchmarks on a 20-item subset show 100 % coverage, latencies of ~2–4 s per item, and sub-cent costs per description. A rater study with 21 humanities scholars ranks per-image model outputs; Friedman and Wilcoxon tests reveal no statistically significant performance differences, while qualitative audits identify recurring errors: factual misrecognition, selective omission, and uncritical reproduction of harmful historical terminology. We argue that VLMs are operationally viable but epistemically fragile in heritage contexts. Effective adoption requires editorial policies, sensitivity filtering, and targeted human-in-the-loop review, especially for sensitive content and complex figures. The study contributes a transparent, reproducible workflow, a small but representative evaluation set, and an initial cost–quality baseline to inform GLAM institutions considering AI-assisted accessibility at scale.</vt:lpwstr>
  </property>
  <property fmtid="{D5CDD505-2E9C-101B-9397-08002B2CF9AE}" pid="3" name="affiliations">
    <vt:lpwstr/>
  </property>
  <property fmtid="{D5CDD505-2E9C-101B-9397-08002B2CF9AE}" pid="4" name="authors">
    <vt:lpwstr/>
  </property>
  <property fmtid="{D5CDD505-2E9C-101B-9397-08002B2CF9AE}" pid="5" name="biblio-config">
    <vt:lpwstr>True</vt:lpwstr>
  </property>
  <property fmtid="{D5CDD505-2E9C-101B-9397-08002B2CF9AE}" pid="6" name="by-affiliation">
    <vt:lpwstr/>
  </property>
  <property fmtid="{D5CDD505-2E9C-101B-9397-08002B2CF9AE}" pid="7" name="by-author">
    <vt:lpwstr/>
  </property>
  <property fmtid="{D5CDD505-2E9C-101B-9397-08002B2CF9AE}" pid="8" name="editor">
    <vt:lpwstr>visual</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subtitle">
    <vt:lpwstr>Evaluating Vision-Language Models for WCAG-Compliant Alt-Text in Digital Heritage Collections</vt:lpwstr>
  </property>
  <property fmtid="{D5CDD505-2E9C-101B-9397-08002B2CF9AE}" pid="14" name="toc-title">
    <vt:lpwstr>Table of contents</vt:lpwstr>
  </property>
</Properties>
</file>