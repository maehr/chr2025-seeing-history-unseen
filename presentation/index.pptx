
<file path=[Content_Types].xml><?xml version="1.0" encoding="utf-8"?>
<Types xmlns="http://schemas.openxmlformats.org/package/2006/content-types">
  <Default Extension="xml" ContentType="application/xml"/>
  <Default Extension="rels" ContentType="application/vnd.openxmlformats-package.relationships+xml"/>
  <Default Extension="jpg" ContentType="image/jpeg"/>
  <Default Extension="png" ContentType="image/pn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30" Type="http://schemas.openxmlformats.org/officeDocument/2006/relationships/viewProps" Target="viewProps.xml" /><Relationship Id="rId29" Type="http://schemas.openxmlformats.org/officeDocument/2006/relationships/presProps" Target="presProps.xml" /><Relationship Id="rId1" Type="http://schemas.openxmlformats.org/officeDocument/2006/relationships/slideMaster" Target="slideMasters/slideMaster1.xml" /><Relationship Id="rId32" Type="http://schemas.openxmlformats.org/officeDocument/2006/relationships/tableStyles" Target="tableStyles.xml" /><Relationship Id="rId31"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forschung.stadtgeschichtebasel.ch" TargetMode="External" /></Relationships>
</file>

<file path=ppt/slides/_rels/slide8.xml.rels><?xml version="1.0" encoding="UTF-8"?><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1.jpg" /></Relationships>
</file>

<file path=ppt/slides/_rels/slide9.xml.rels><?xml version="1.0" encoding="UTF-8"?><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2.jpg" /></Relationships>
</file>

<file path=ppt/slides/_rels/slide10.xml.rels><?xml version="1.0" encoding="UTF-8"?><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jpg" /></Relationships>
</file>

<file path=ppt/slides/_rels/slide11.xml.rels><?xml version="1.0" encoding="UTF-8"?><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4.jpg" /></Relationships>
</file>

<file path=ppt/slides/_rels/slide12.xml.rels><?xml version="1.0" encoding="UTF-8"?><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5.png"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6.png"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Seeing History Unseen</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Evaluating Vision-Language Models for WCAG-Compliant Alt-Text in Digital Heritage Collections</a:t>
            </a:r>
            <a:br/>
            <a:br/>
            <a:r>
              <a:rPr/>
              <a:t>Moritz Mähr</a:t>
            </a:r>
            <a:br/>
            <a:r>
              <a:rPr/>
              <a:t>Moritz Twente</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Seeing History Unseen</a:t>
            </a:r>
          </a:p>
          <a:p>
            <a:pPr lvl="0" indent="0" marL="0">
              <a:buNone/>
            </a:pPr>
            <a:r>
              <a:rPr/>
              <a:t>Evaluating vision–language models (VLMs) for alt-text in digital heritage collections</a:t>
            </a:r>
          </a:p>
          <a:p>
            <a:pPr lvl="0" indent="0" marL="0">
              <a:buNone/>
            </a:pPr>
            <a:r>
              <a:rPr i="1"/>
              <a:t>Case Study</a:t>
            </a:r>
          </a:p>
          <a:p>
            <a:pPr lvl="0" indent="0" marL="0">
              <a:buNone/>
            </a:pPr>
            <a:r>
              <a:rPr i="1"/>
              <a:t>Focus</a:t>
            </a:r>
          </a:p>
          <a:p>
            <a:pPr lvl="0" indent="0" marL="0">
              <a:buNone/>
            </a:pPr>
            <a:r>
              <a:rPr/>
              <a:t>Stadt.Geschichte.BaselOpen Research Data Platform</a:t>
            </a:r>
          </a:p>
          <a:p>
            <a:pPr lvl="0" indent="0" marL="0">
              <a:buNone/>
            </a:pPr>
            <a:r>
              <a:rPr/>
              <a:t>WCAG-compliant,historically informed alt-text for heterogeneous images</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Motivation: Accessibility Gap</a:t>
            </a:r>
          </a:p>
          <a:p>
            <a:pPr lvl="0"/>
            <a:r>
              <a:rPr/>
              <a:t>Digitized archives still exclude blind and low-vision users</a:t>
            </a:r>
          </a:p>
          <a:p>
            <a:pPr lvl="0"/>
            <a:r>
              <a:rPr/>
              <a:t>Many images lack meaningful alt-text or rely on minimal, generic captions</a:t>
            </a:r>
          </a:p>
          <a:p>
            <a:pPr lvl="0"/>
            <a:r>
              <a:rPr/>
              <a:t>Alt-text is not just a technical requirement but part of historical justice</a:t>
            </a:r>
          </a:p>
          <a:p>
            <a:pPr lvl="0"/>
            <a:r>
              <a:rPr/>
              <a:t>Rich descriptions also benefit other groups(e.g., neurodivergent readers)</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Alt-Text in Digital Heritage</a:t>
            </a:r>
          </a:p>
          <a:p>
            <a:pPr lvl="0"/>
            <a:r>
              <a:rPr/>
              <a:t>Alt-text translates visual evidence into language</a:t>
            </a:r>
          </a:p>
          <a:p>
            <a:pPr lvl="0"/>
            <a:r>
              <a:rPr/>
              <a:t>Production is labor-intensive; often postponed or dropped entirely</a:t>
            </a:r>
          </a:p>
          <a:p>
            <a:pPr lvl="0"/>
            <a:r>
              <a:rPr/>
              <a:t>Requires:</a:t>
            </a:r>
          </a:p>
          <a:p>
            <a:pPr lvl="1"/>
            <a:r>
              <a:rPr/>
              <a:t>Domain knowledge (history, archives, local context)</a:t>
            </a:r>
          </a:p>
          <a:p>
            <a:pPr lvl="1"/>
            <a:r>
              <a:rPr/>
              <a:t>Accessibility expertise (WCAG, screenreader use)</a:t>
            </a:r>
          </a:p>
          <a:p>
            <a:pPr lvl="1"/>
            <a:r>
              <a:rPr/>
              <a:t>Editorial judgement (what is salient, what is harmful)</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Opportunity and Risks of VLMs</a:t>
            </a:r>
          </a:p>
          <a:p>
            <a:pPr lvl="0"/>
            <a:r>
              <a:rPr/>
              <a:t>Multimodal models can caption images at scale(e.g., GPT-4o mini, Gemini, Llama, Qwen)</a:t>
            </a:r>
          </a:p>
          <a:p>
            <a:pPr lvl="0"/>
            <a:r>
              <a:rPr/>
              <a:t>Promises</a:t>
            </a:r>
          </a:p>
          <a:p>
            <a:pPr lvl="1"/>
            <a:r>
              <a:rPr/>
              <a:t>High coverage, fast throughput, low marginal cost</a:t>
            </a:r>
          </a:p>
          <a:p>
            <a:pPr lvl="1"/>
            <a:r>
              <a:rPr/>
              <a:t>Potential to </a:t>
            </a:r>
            <a:r>
              <a:rPr i="1"/>
              <a:t>fill the gap</a:t>
            </a:r>
            <a:r>
              <a:rPr/>
              <a:t> for large collections</a:t>
            </a:r>
          </a:p>
          <a:p>
            <a:pPr lvl="0"/>
            <a:r>
              <a:rPr/>
              <a:t>Risks</a:t>
            </a:r>
          </a:p>
          <a:p>
            <a:pPr lvl="1"/>
            <a:r>
              <a:rPr/>
              <a:t>Hallucinations, misrecognitions, and subtle biases</a:t>
            </a:r>
          </a:p>
          <a:p>
            <a:pPr lvl="1"/>
            <a:r>
              <a:rPr/>
              <a:t>Uncritical reproduction of harmful terminology from sources or training data</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Research Questions</a:t>
            </a:r>
          </a:p>
          <a:p>
            <a:pPr lvl="0"/>
            <a:r>
              <a:rPr b="1"/>
              <a:t>RQ1 — Feasibility</a:t>
            </a:r>
          </a:p>
          <a:p>
            <a:pPr lvl="1"/>
            <a:r>
              <a:rPr/>
              <a:t>What coverage, throughput, and unit cost can current VLMs achieve for WCAG-aligned alt-text on a heterogeneous heritage corpus?</a:t>
            </a:r>
          </a:p>
          <a:p>
            <a:pPr lvl="0"/>
            <a:r>
              <a:rPr b="1"/>
              <a:t>RQ2 — Relative quality</a:t>
            </a:r>
          </a:p>
          <a:p>
            <a:pPr lvl="1"/>
            <a:r>
              <a:rPr/>
              <a:t>How do humanities experts rank model outputs?</a:t>
            </a:r>
          </a:p>
          <a:p>
            <a:pPr lvl="1"/>
            <a:r>
              <a:rPr/>
              <a:t>Which error patterns recur in ‹best› alt-texts?</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Corpus and Dataset</a:t>
            </a:r>
          </a:p>
          <a:p>
            <a:pPr lvl="0" indent="0" marL="0">
              <a:buNone/>
            </a:pPr>
          </a:p>
          <a:p>
            <a:pPr lvl="0" indent="0" marL="0">
              <a:buNone/>
            </a:pPr>
            <a:r>
              <a:rPr/>
              <a:t> Stadt.Geschichte.Basel</a:t>
            </a:r>
            <a:r>
              <a:rPr>
                <a:hlinkClick r:id="rId2"/>
              </a:rPr>
              <a:t>Open Research Data Platform</a:t>
            </a:r>
          </a:p>
          <a:p>
            <a:pPr lvl="0" indent="0" marL="0">
              <a:buNone/>
            </a:pPr>
            <a:r>
              <a:rPr/>
              <a:t>≈1900 media objects (as of Dec 2025)</a:t>
            </a:r>
          </a:p>
          <a:p>
            <a:pPr lvl="0"/>
            <a:r>
              <a:rPr/>
              <a:t>Media Types: photographs, maps, drawings, objects, diagrams, ephemera</a:t>
            </a:r>
          </a:p>
          <a:p>
            <a:pPr lvl="0"/>
            <a:r>
              <a:rPr/>
              <a:t>Time Periods: from prehistoric to contemporary Basel</a:t>
            </a:r>
          </a:p>
          <a:p>
            <a:pPr lvl="0"/>
            <a:r>
              <a:rPr/>
              <a:t>Complexity: multi-part figures, text-heavy items</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37000" b="-37000"/>
          </a:stretch>
        </a:blipFill>
        <a:effectsLst/>
      </p:bgPr>
    </p:bg>
    <p:spTree>
      <p:nvGrpSpPr>
        <p:cNvPr id="1" name=""/>
        <p:cNvGrpSpPr/>
        <p:nvPr/>
      </p:nvGrpSpPr>
      <p:grpSpPr>
        <a:xfrm>
          <a:off x="0" y="0"/>
          <a:ext cx="0" cy="0"/>
          <a:chOff x="0" y="0"/>
          <a:chExt cx="0" cy="0"/>
        </a:xfrm>
      </p:grpSpPr>
    </p:spTree>
  </p:cSld>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39000" b="-39000"/>
          </a:stretch>
        </a:blipFill>
        <a:effectsLst/>
      </p:bgPr>
    </p:bg>
    <p:spTree>
      <p:nvGrpSpPr>
        <p:cNvPr id="1" name=""/>
        <p:cNvGrpSpPr/>
        <p:nvPr/>
      </p:nvGrpSpPr>
      <p:grpSpPr>
        <a:xfrm>
          <a:off x="0" y="0"/>
          <a:ext cx="0" cy="0"/>
          <a:chOff x="0" y="0"/>
          <a:chExt cx="0" cy="0"/>
        </a:xfrm>
      </p:grpSpPr>
    </p:spTree>
  </p:cSld>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2000" r="-2000"/>
          </a:stretch>
        </a:blipFill>
        <a:effectsLst/>
      </p:bgPr>
    </p:bg>
    <p:spTree>
      <p:nvGrpSpPr>
        <p:cNvPr id="1" name=""/>
        <p:cNvGrpSpPr/>
        <p:nvPr/>
      </p:nvGrpSpPr>
      <p:grpSpPr>
        <a:xfrm>
          <a:off x="0" y="0"/>
          <a:ext cx="0" cy="0"/>
          <a:chOff x="0" y="0"/>
          <a:chExt cx="0" cy="0"/>
        </a:xfrm>
      </p:grpSpPr>
    </p:spTree>
  </p:cSld>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47000" b="-47000"/>
          </a:stretch>
        </a:blipFill>
        <a:effectsLst/>
      </p:bgPr>
    </p:bg>
    <p:spTree>
      <p:nvGrpSpPr>
        <p:cNvPr id="1" name=""/>
        <p:cNvGrpSpPr/>
        <p:nvPr/>
      </p:nvGrpSpPr>
      <p:grpSpPr>
        <a:xfrm>
          <a:off x="0" y="0"/>
          <a:ext cx="0" cy="0"/>
          <a:chOff x="0" y="0"/>
          <a:chExt cx="0" cy="0"/>
        </a:xfrm>
      </p:grpSpPr>
    </p:spTree>
  </p:cSld>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8000" b="-8000"/>
          </a:stretch>
        </a:blipFill>
        <a:effectsLst/>
      </p:bgPr>
    </p:bg>
    <p:spTree>
      <p:nvGrpSpPr>
        <p:cNvPr id="1" name=""/>
        <p:cNvGrpSpPr/>
        <p:nvPr/>
      </p:nvGrpSpPr>
      <p:grpSpPr>
        <a:xfrm>
          <a:off x="0" y="0"/>
          <a:ext cx="0" cy="0"/>
          <a:chOff x="0" y="0"/>
          <a:chExt cx="0" cy="0"/>
        </a:xfrm>
      </p:grpSpPr>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Models under Study</a:t>
            </a:r>
          </a:p>
          <a:p>
            <a:pPr lvl="0"/>
            <a:r>
              <a:rPr/>
              <a:t>Four vision–language models via OpenRouter:</a:t>
            </a:r>
          </a:p>
          <a:p>
            <a:pPr lvl="1"/>
            <a:r>
              <a:rPr b="1"/>
              <a:t>Google Gemini 2.5 Flash Lite</a:t>
            </a:r>
          </a:p>
          <a:p>
            <a:pPr lvl="1"/>
            <a:r>
              <a:rPr b="1"/>
              <a:t>Meta Llama 4 Maverick</a:t>
            </a:r>
          </a:p>
          <a:p>
            <a:pPr lvl="1"/>
            <a:r>
              <a:rPr b="1"/>
              <a:t>OpenAI GPT-4o mini</a:t>
            </a:r>
          </a:p>
          <a:p>
            <a:pPr lvl="1"/>
            <a:r>
              <a:rPr b="1"/>
              <a:t>Qwen 3 VL 8B Instruct</a:t>
            </a:r>
          </a:p>
          <a:p>
            <a:pPr lvl="0"/>
            <a:r>
              <a:rPr/>
              <a:t>Selection criteria:</a:t>
            </a:r>
          </a:p>
          <a:p>
            <a:pPr lvl="1"/>
            <a:r>
              <a:rPr/>
              <a:t>Mix of proprietary and open-weight models</a:t>
            </a:r>
          </a:p>
          <a:p>
            <a:pPr lvl="1"/>
            <a:r>
              <a:rPr/>
              <a:t>Similar cost range and context window</a:t>
            </a:r>
          </a:p>
          <a:p>
            <a:pPr lvl="1"/>
            <a:r>
              <a:rPr/>
              <a:t>Multimodal and multilingual (incl. German)</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Prompt and Pipeline Design</a:t>
            </a:r>
          </a:p>
          <a:p>
            <a:pPr lvl="0"/>
            <a:r>
              <a:rPr/>
              <a:t>Fixed, WCAG-aligned system prompt</a:t>
            </a:r>
          </a:p>
          <a:p>
            <a:pPr lvl="1"/>
            <a:r>
              <a:rPr/>
              <a:t>Short, neutral, factual descriptions</a:t>
            </a:r>
          </a:p>
          <a:p>
            <a:pPr lvl="1"/>
            <a:r>
              <a:rPr/>
              <a:t>No “image of …”, no </a:t>
            </a:r>
            <a:r>
              <a:rPr>
                <a:latin typeface="Courier"/>
              </a:rPr>
              <a:t>alt=</a:t>
            </a:r>
            <a:r>
              <a:rPr/>
              <a:t> wrappers, no emojis</a:t>
            </a:r>
          </a:p>
          <a:p>
            <a:pPr lvl="1"/>
            <a:r>
              <a:rPr/>
              <a:t>Length targets</a:t>
            </a:r>
          </a:p>
          <a:p>
            <a:pPr lvl="2"/>
            <a:r>
              <a:rPr/>
              <a:t>90–180 characters</a:t>
            </a:r>
          </a:p>
          <a:p>
            <a:pPr lvl="2"/>
            <a:r>
              <a:rPr/>
              <a:t>up to 400 for complex charts</a:t>
            </a:r>
          </a:p>
          <a:p>
            <a:pPr lvl="1"/>
            <a:r>
              <a:rPr/>
              <a:t>Rules for portraits, objects, documents, maps, event photos</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Prompt and Pipeline Design</a:t>
            </a:r>
          </a:p>
          <a:p>
            <a:pPr lvl="0"/>
            <a:r>
              <a:rPr/>
              <a:t>User prompt</a:t>
            </a:r>
          </a:p>
          <a:p>
            <a:pPr lvl="1"/>
            <a:r>
              <a:rPr/>
              <a:t>Concise, structured metadata (title, description, date, era, creator, publisher, source)</a:t>
            </a:r>
          </a:p>
          <a:p>
            <a:pPr lvl="1"/>
            <a:r>
              <a:rPr/>
              <a:t>Image URL at the end</a:t>
            </a:r>
          </a:p>
          <a:p>
            <a:pPr lvl="0"/>
            <a:r>
              <a:rPr/>
              <a:t>Pipeline:</a:t>
            </a:r>
          </a:p>
          <a:p>
            <a:pPr lvl="1"/>
            <a:r>
              <a:rPr/>
              <a:t>Standardized JPG (800×800) + JSON metadata→ 4 candidate alt-texts per image</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8000" b="-8000"/>
          </a:stretch>
        </a:blipFill>
        <a:effectsLst/>
      </p:bgPr>
    </p:bg>
    <p:spTree>
      <p:nvGrpSpPr>
        <p:cNvPr id="1" name=""/>
        <p:cNvGrpSpPr/>
        <p:nvPr/>
      </p:nvGrpSpPr>
      <p:grpSpPr>
        <a:xfrm>
          <a:off x="0" y="0"/>
          <a:ext cx="0" cy="0"/>
          <a:chOff x="0" y="0"/>
          <a:chExt cx="0" cy="0"/>
        </a:xfrm>
      </p:grpSpPr>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Expert Ranking Study</a:t>
            </a:r>
          </a:p>
          <a:p>
            <a:pPr lvl="0"/>
            <a:r>
              <a:rPr/>
              <a:t>Participants: 21 humanities scholars</a:t>
            </a:r>
          </a:p>
          <a:p>
            <a:pPr lvl="0"/>
            <a:r>
              <a:rPr/>
              <a:t>Instructions:</a:t>
            </a:r>
          </a:p>
          <a:p>
            <a:pPr lvl="1"/>
            <a:r>
              <a:rPr/>
              <a:t>For each of the 20 images, rank 4 model outputsfrom </a:t>
            </a:r>
            <a:r>
              <a:rPr b="1"/>
              <a:t>1 (best) to 4 (worst)</a:t>
            </a:r>
          </a:p>
          <a:p>
            <a:pPr lvl="1"/>
            <a:r>
              <a:rPr/>
              <a:t>Focus on WCAG-aligned criteria:</a:t>
            </a:r>
          </a:p>
          <a:p>
            <a:pPr lvl="2"/>
            <a:r>
              <a:rPr/>
              <a:t>Core visual content, no redundancy</a:t>
            </a:r>
          </a:p>
          <a:p>
            <a:pPr lvl="2"/>
            <a:r>
              <a:rPr/>
              <a:t>Salient features and visible text</a:t>
            </a:r>
          </a:p>
          <a:p>
            <a:pPr lvl="2"/>
            <a:r>
              <a:rPr/>
              <a:t>Context only when it aids understanding</a:t>
            </a:r>
          </a:p>
          <a:p>
            <a:pPr lvl="1"/>
            <a:r>
              <a:rPr/>
              <a:t>Factual accuracy and bias not foregrounded but may influence judgement</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RQ1 – Feasibility Results</a:t>
            </a:r>
          </a:p>
          <a:p>
            <a:pPr lvl="0"/>
            <a:r>
              <a:rPr b="1"/>
              <a:t>Coverage</a:t>
            </a:r>
          </a:p>
          <a:p>
            <a:pPr lvl="1"/>
            <a:r>
              <a:rPr/>
              <a:t>All four models produced non-empty alt-text for all 20 images → </a:t>
            </a:r>
            <a:r>
              <a:rPr b="1"/>
              <a:t>100% coverage</a:t>
            </a:r>
          </a:p>
          <a:p>
            <a:pPr lvl="0"/>
            <a:r>
              <a:rPr b="1"/>
              <a:t>Latency and throughput</a:t>
            </a:r>
          </a:p>
          <a:p>
            <a:pPr lvl="1"/>
            <a:r>
              <a:rPr/>
              <a:t>≈2–4 seconds per item; ≈0.24–0.43 items/s</a:t>
            </a:r>
          </a:p>
          <a:p>
            <a:pPr lvl="1"/>
            <a:r>
              <a:rPr/>
              <a:t>Qwen 3 VL 8B: fastest; GPT-4o mini: slower but stable</a:t>
            </a:r>
          </a:p>
          <a:p>
            <a:pPr lvl="0"/>
            <a:r>
              <a:rPr b="1"/>
              <a:t>Cost</a:t>
            </a:r>
          </a:p>
          <a:p>
            <a:pPr lvl="1"/>
            <a:r>
              <a:rPr/>
              <a:t>≈1.8×10⁻⁴ to 3.6×10⁻³ USD per description</a:t>
            </a:r>
          </a:p>
          <a:p>
            <a:pPr lvl="1"/>
            <a:r>
              <a:rPr/>
              <a:t>Sub-cent cost even for multiple candidates per image</a:t>
            </a:r>
          </a:p>
          <a:p>
            <a:pPr lvl="0"/>
            <a:r>
              <a:rPr/>
              <a:t>technically and economically feasible at collection scale</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RQ2 – Quantitative Ranking Results</a:t>
            </a:r>
          </a:p>
          <a:p>
            <a:pPr lvl="0"/>
            <a:r>
              <a:rPr b="1"/>
              <a:t>Rank distributions</a:t>
            </a:r>
          </a:p>
          <a:p>
            <a:pPr lvl="1"/>
            <a:r>
              <a:rPr/>
              <a:t>GPT-4o mini and Qwen receive more first-place and fewer last-place ranks</a:t>
            </a:r>
          </a:p>
          <a:p>
            <a:pPr lvl="1"/>
            <a:r>
              <a:rPr/>
              <a:t>Gemini and Llama perform slightly worse descriptively</a:t>
            </a:r>
          </a:p>
          <a:p>
            <a:pPr lvl="0"/>
            <a:r>
              <a:rPr b="1"/>
              <a:t>Statistical tests</a:t>
            </a:r>
          </a:p>
          <a:p>
            <a:pPr lvl="1"/>
            <a:r>
              <a:rPr/>
              <a:t>Friedman test: χ²(3, N=20) = 6.02, p = 0.11</a:t>
            </a:r>
          </a:p>
          <a:p>
            <a:pPr lvl="1"/>
            <a:r>
              <a:rPr/>
              <a:t>Kendall’s W ≈ 0.01 → very low agreement across tasks</a:t>
            </a:r>
          </a:p>
          <a:p>
            <a:pPr lvl="1"/>
            <a:r>
              <a:rPr/>
              <a:t>Pairwise Wilcoxon tests (Holm-corrected): no significant differences</a:t>
            </a:r>
          </a:p>
          <a:p>
            <a:pPr lvl="0"/>
            <a:r>
              <a:rPr b="1"/>
              <a:t>no clear ‹winner›</a:t>
            </a:r>
            <a:r>
              <a:rPr/>
              <a:t>; relative model quality varies by image</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Error Patterns: Factual Misrecognition</a:t>
            </a:r>
          </a:p>
          <a:p>
            <a:pPr lvl="0" indent="0" marL="0">
              <a:buNone/>
            </a:pPr>
          </a:p>
          <a:p>
            <a:pPr lvl="0" indent="0" marL="0">
              <a:buNone/>
            </a:pPr>
            <a:r>
              <a:rPr/>
              <a:t>e.g., describing people walking </a:t>
            </a:r>
            <a:r>
              <a:rPr i="1"/>
              <a:t>down</a:t>
            </a:r>
            <a:r>
              <a:rPr/>
              <a:t> a staircase when image shows them walking </a:t>
            </a:r>
            <a:r>
              <a:rPr i="1"/>
              <a:t>up(Faltblatt der Gruppe ‹Freiräume für Frauen› FFF, 1992)</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Error Patterns: Reproduction of Stereotypes</a:t>
            </a:r>
          </a:p>
          <a:p>
            <a:pPr lvl="0" indent="0" marL="0">
              <a:buNone/>
            </a:pPr>
          </a:p>
          <a:p>
            <a:pPr lvl="0" indent="0" marL="0">
              <a:buNone/>
            </a:pPr>
            <a:r>
              <a:rPr/>
              <a:t>e.g., uncritical repetition of phrases like ‹reicher Jude› from metadata or training data</a:t>
            </a:r>
            <a:r>
              <a:rPr i="1"/>
              <a:t>(Karikatur ‹Gegen den Eisenbahnhandel›, 1898)</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Error Patterns: Selective Omission</a:t>
            </a:r>
          </a:p>
          <a:p>
            <a:pPr lvl="0" indent="0" marL="0">
              <a:buNone/>
            </a:pPr>
          </a:p>
          <a:p>
            <a:pPr lvl="0" indent="0" marL="0">
              <a:buNone/>
            </a:pPr>
            <a:r>
              <a:rPr/>
              <a:t>e.g., summarising trends for one data series in a chart while ignoring others</a:t>
            </a:r>
            <a:r>
              <a:rPr i="1"/>
              <a:t>(Publikumszahlen an Konzerten und FCB-Spielen im St. Jakob-Stadion, 1960–2022)</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Operationally Viable, Epistemically Fragile</a:t>
            </a:r>
          </a:p>
          <a:p>
            <a:pPr lvl="0"/>
            <a:r>
              <a:rPr b="1"/>
              <a:t>Operationally viable</a:t>
            </a:r>
            <a:r>
              <a:rPr/>
              <a:t> (RQ1)</a:t>
            </a:r>
          </a:p>
          <a:p>
            <a:pPr lvl="1"/>
            <a:r>
              <a:rPr/>
              <a:t>High coverage, low latency, negligible cost</a:t>
            </a:r>
          </a:p>
          <a:p>
            <a:pPr lvl="1"/>
            <a:r>
              <a:rPr/>
              <a:t>Easy to integrate into existing pipelines</a:t>
            </a:r>
          </a:p>
          <a:p>
            <a:pPr lvl="0"/>
            <a:r>
              <a:rPr b="1"/>
              <a:t>Epistemically fragile</a:t>
            </a:r>
            <a:r>
              <a:rPr/>
              <a:t> (RQ2)</a:t>
            </a:r>
          </a:p>
          <a:p>
            <a:pPr lvl="1"/>
            <a:r>
              <a:rPr/>
              <a:t>Errors are uneven and task-dependent</a:t>
            </a:r>
          </a:p>
          <a:p>
            <a:pPr lvl="1"/>
            <a:r>
              <a:rPr/>
              <a:t>Biases and omissions require domain-sensitive review</a:t>
            </a:r>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Limitations and Future Work</a:t>
            </a:r>
          </a:p>
          <a:p>
            <a:pPr lvl="0"/>
            <a:r>
              <a:rPr/>
              <a:t>Single institutional corpus; 100-item dataset, 20-item survey subset</a:t>
            </a:r>
          </a:p>
          <a:p>
            <a:pPr lvl="0"/>
            <a:r>
              <a:rPr/>
              <a:t>Four models at one point in time (Oct 2025)</a:t>
            </a:r>
          </a:p>
          <a:p>
            <a:pPr lvl="0"/>
            <a:r>
              <a:rPr/>
              <a:t>Future directions:</a:t>
            </a:r>
          </a:p>
          <a:p>
            <a:pPr lvl="1"/>
            <a:r>
              <a:rPr/>
              <a:t>Larger and more diverse participant pools, including blind and low-vision users</a:t>
            </a:r>
          </a:p>
          <a:p>
            <a:pPr lvl="1"/>
            <a:r>
              <a:rPr/>
              <a:t>Comparative studies of different prompt and review strategies</a:t>
            </a:r>
          </a:p>
          <a:p>
            <a:pPr lvl="1"/>
            <a:r>
              <a:rPr/>
              <a:t>Integration with authoring tools and cataloguing workflows</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Practical Recommendations</a:t>
            </a:r>
          </a:p>
          <a:p>
            <a:pPr lvl="0"/>
            <a:r>
              <a:rPr/>
              <a:t>Recommended use:</a:t>
            </a:r>
          </a:p>
          <a:p>
            <a:pPr lvl="1"/>
            <a:r>
              <a:rPr/>
              <a:t>VLMs as drafting aids for trained editors</a:t>
            </a:r>
          </a:p>
          <a:p>
            <a:pPr lvl="1"/>
            <a:r>
              <a:rPr/>
              <a:t>Human-in-the-loop workflows with:</a:t>
            </a:r>
          </a:p>
          <a:p>
            <a:pPr lvl="2"/>
            <a:r>
              <a:rPr/>
              <a:t>Editorial guidelines for sensitive content</a:t>
            </a:r>
          </a:p>
          <a:p>
            <a:pPr lvl="2"/>
            <a:r>
              <a:rPr/>
              <a:t>Checks for bias, factual errors, and omissions</a:t>
            </a:r>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Practical Recommendations</a:t>
            </a:r>
          </a:p>
          <a:p>
            <a:pPr lvl="0"/>
            <a:r>
              <a:rPr/>
              <a:t>For DH Teams and GLAM Institutions:</a:t>
            </a:r>
          </a:p>
          <a:p>
            <a:pPr lvl="1"/>
            <a:r>
              <a:rPr/>
              <a:t>Start with limited, well-documented pilot runs</a:t>
            </a:r>
          </a:p>
          <a:p>
            <a:pPr lvl="1"/>
            <a:r>
              <a:rPr/>
              <a:t>Prioritise sensitive or high-impact items for manual review</a:t>
            </a:r>
          </a:p>
          <a:p>
            <a:pPr lvl="1"/>
            <a:r>
              <a:rPr/>
              <a:t>Develop internal style guides for alt-text and metadata</a:t>
            </a:r>
          </a:p>
          <a:p>
            <a:pPr lvl="1"/>
            <a:r>
              <a:rPr/>
              <a:t>Log model version, prompts, and provenance for transparency</a:t>
            </a:r>
          </a:p>
          <a:p>
            <a:pPr lvl="0"/>
            <a:r>
              <a:rPr/>
              <a:t>For Model and Tool Builders:</a:t>
            </a:r>
          </a:p>
          <a:p>
            <a:pPr lvl="1"/>
            <a:r>
              <a:rPr/>
              <a:t>Support context-aware prompting (metadata + image)</a:t>
            </a:r>
          </a:p>
          <a:p>
            <a:pPr lvl="1"/>
            <a:r>
              <a:rPr/>
              <a:t>Provide better controls for bias and harmful content</a:t>
            </a:r>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Take-Home Messages</a:t>
            </a:r>
          </a:p>
          <a:p>
            <a:pPr lvl="0"/>
            <a:r>
              <a:rPr/>
              <a:t>Do </a:t>
            </a:r>
            <a:r>
              <a:rPr b="1"/>
              <a:t>not</a:t>
            </a:r>
            <a:r>
              <a:rPr/>
              <a:t> use VLMs as fully automated captioners</a:t>
            </a:r>
          </a:p>
          <a:p>
            <a:pPr lvl="0"/>
            <a:r>
              <a:rPr/>
              <a:t>Treat alt-text as:</a:t>
            </a:r>
          </a:p>
          <a:p>
            <a:pPr lvl="1"/>
            <a:r>
              <a:rPr/>
              <a:t>An interpretive, historiographical act</a:t>
            </a:r>
          </a:p>
          <a:p>
            <a:pPr lvl="1"/>
            <a:r>
              <a:rPr/>
              <a:t>An ethical responsibility toward diverse audiences</a:t>
            </a:r>
          </a:p>
          <a:p>
            <a:pPr lvl="0"/>
            <a:r>
              <a:rPr/>
              <a:t>Effective adoption requires:</a:t>
            </a:r>
          </a:p>
          <a:p>
            <a:pPr lvl="1"/>
            <a:r>
              <a:rPr/>
              <a:t>Clear editorial policies and sensitivity guidelines</a:t>
            </a:r>
          </a:p>
          <a:p>
            <a:pPr lvl="1"/>
            <a:r>
              <a:rPr/>
              <a:t>Human-in-the-loop review with domain and accessibility expertise</a:t>
            </a:r>
          </a:p>
          <a:p>
            <a:pPr lvl="1"/>
            <a:r>
              <a:rPr/>
              <a:t>Transparent, reproducible workflows and open data</a:t>
            </a:r>
          </a:p>
          <a:p>
            <a:pPr lvl="0" indent="0" marL="0">
              <a:buNone/>
            </a:pPr>
            <a:r>
              <a:rPr/>
              <a:t>→ Accessibility with AI is a design and governance choice</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Seeing History Unseen</dc:title>
  <dc:creator>Moritz Mähr; Moritz Twente</dc:creator>
  <cp:keywords>alt-text, vision-language models, accessibility, WCAG 2.2, digital heritage collections, historical accuracy, human-in-the-loop, ethical implications, metadata, disability justice</cp:keywords>
  <dcterms:created xsi:type="dcterms:W3CDTF">2025-12-12T08:25:57Z</dcterms:created>
  <dcterms:modified xsi:type="dcterms:W3CDTF">2025-12-12T08:25:57Z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bstract">
    <vt:lpwstr>Digitized heritage collections remain partially inaccessible because images often lack descriptive alternative text (alt-text). We evaluate whether contemporary Vision-Language Models (VLMs) can assist in producing WCAG-compliant alt-text for heterogeneous historical materials. Using a 100-item dataset curated from the Stadt.Geschichte.Basel Open Research Data Platform—covering photographs, maps, drawings, objects, diagrams, and print ephemera across multiple eras—we generate candidate descriptions with four VLMs (Google Gemini 2.5 Flash Lite, Meta Llama 4 Maverick, OpenAI GPT-4o mini, Qwen 3 VL 8B Instruct). Our pipeline fixes WCAG and output constraints in the system prompt and injects concise, collection-specific metadata at the user turn to mitigate “lost-in-the-middle” effects. Feasibility benchmarks on a 20-item subset show 100 % coverage, latencies of ~2–4 s per item, and sub-cent costs per description. A rater study with 21 humanities scholars ranks per-image model outputs; Friedman and Wilcoxon tests reveal no statistically significant performance differences, while qualitative audits identify recurring errors: factual misrecognition, selective omission, and uncritical reproduction of harmful historical terminology. We argue that VLMs are operationally viable but epistemically fragile in heritage contexts. Effective adoption requires editorial policies, sensitivity filtering, and targeted human-in-the-loop review, especially for sensitive content and complex figures. The study contributes a transparent, reproducible workflow, a small but representative evaluation set, and an initial cost–quality baseline to inform GLAM institutions considering AI-assisted accessibility at scale.</vt:lpwstr>
  </property>
  <property fmtid="{D5CDD505-2E9C-101B-9397-08002B2CF9AE}" pid="3" name="affiliations">
    <vt:lpwstr/>
  </property>
  <property fmtid="{D5CDD505-2E9C-101B-9397-08002B2CF9AE}" pid="4" name="authors">
    <vt:lpwstr/>
  </property>
  <property fmtid="{D5CDD505-2E9C-101B-9397-08002B2CF9AE}" pid="5" name="biblio-config">
    <vt:lpwstr>True</vt:lpwstr>
  </property>
  <property fmtid="{D5CDD505-2E9C-101B-9397-08002B2CF9AE}" pid="6" name="brand">
    <vt:lpwstr>_brand.yml</vt:lpwstr>
  </property>
  <property fmtid="{D5CDD505-2E9C-101B-9397-08002B2CF9AE}" pid="7" name="by-affiliation">
    <vt:lpwstr/>
  </property>
  <property fmtid="{D5CDD505-2E9C-101B-9397-08002B2CF9AE}" pid="8" name="by-author">
    <vt:lpwstr/>
  </property>
  <property fmtid="{D5CDD505-2E9C-101B-9397-08002B2CF9AE}" pid="9" name="editor">
    <vt:lpwstr>visual</vt:lpwstr>
  </property>
  <property fmtid="{D5CDD505-2E9C-101B-9397-08002B2CF9AE}" pid="10" name="header-includes">
    <vt:lpwstr/>
  </property>
  <property fmtid="{D5CDD505-2E9C-101B-9397-08002B2CF9AE}" pid="11" name="include-after">
    <vt:lpwstr/>
  </property>
  <property fmtid="{D5CDD505-2E9C-101B-9397-08002B2CF9AE}" pid="12" name="include-before">
    <vt:lpwstr/>
  </property>
  <property fmtid="{D5CDD505-2E9C-101B-9397-08002B2CF9AE}" pid="13" name="labels">
    <vt:lpwstr/>
  </property>
  <property fmtid="{D5CDD505-2E9C-101B-9397-08002B2CF9AE}" pid="14" name="subtitle">
    <vt:lpwstr>Evaluating Vision-Language Models for WCAG-Compliant Alt-Text in Digital Heritage Collections</vt:lpwstr>
  </property>
  <property fmtid="{D5CDD505-2E9C-101B-9397-08002B2CF9AE}" pid="15" name="toc-title">
    <vt:lpwstr>Table of contents</vt:lpwstr>
  </property>
</Properties>
</file>